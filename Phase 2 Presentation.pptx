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e47e265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1e47e265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1e47e265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1e47e265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e47e265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1e47e265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1e47e265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1e47e265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e47e265b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1e47e265b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1e47e265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1e47e265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1e47e265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1e47e265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1e47e265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1e47e265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e47e265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1e47e265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1e47e265b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1e47e265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1e47e265b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1e47e265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1e47e265b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1e47e265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Switching</a:t>
            </a:r>
            <a:r>
              <a:rPr lang="en"/>
              <a:t> Project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Keith &amp; Arav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Dataset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351050" y="1990725"/>
            <a:ext cx="2639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Font typeface="Times New Roman"/>
              <a:buChar char="-"/>
            </a:pPr>
            <a:r>
              <a:rPr b="1" lang="en" sz="16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Dialogues: 798</a:t>
            </a:r>
            <a:endParaRPr b="1" sz="16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Font typeface="Times New Roman"/>
              <a:buChar char="-"/>
            </a:pPr>
            <a:r>
              <a:rPr b="1" lang="en" sz="16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utterances: 6,083</a:t>
            </a:r>
            <a:endParaRPr b="1" sz="16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Font typeface="Times New Roman"/>
              <a:buChar char="-"/>
            </a:pPr>
            <a:r>
              <a:rPr b="1" lang="en" sz="16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tokens: 125,048</a:t>
            </a:r>
            <a:endParaRPr b="1" sz="16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Font typeface="Times New Roman"/>
              <a:buChar char="-"/>
            </a:pPr>
            <a:r>
              <a:rPr b="1" lang="en" sz="16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Distinct tokens: 3,143</a:t>
            </a:r>
            <a:endParaRPr b="1" sz="16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Font typeface="Times New Roman"/>
              <a:buChar char="-"/>
            </a:pPr>
            <a:r>
              <a:rPr b="1" lang="en" sz="16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Utterance Rate: 28.69%</a:t>
            </a:r>
            <a:endParaRPr b="1" sz="16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2917450" y="1943500"/>
            <a:ext cx="6036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 in Each Record:</a:t>
            </a:r>
            <a:endParaRPr sz="1200" u="sng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"Id" - Unique identifier for each record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"Utterance" - Dialogue generated 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"Source" - “LLM”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"Generation_strategy" - List of which generation strategies we used (few shot, chain of thought, persona)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"Model_name" - GPT model that we used ("gpt-3.5-turbo", "gpt-3.5-turbo-16k", "gpt-4o-mini")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"prompt_text" - actual prompt inputted into the model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Processed Dataset</a:t>
            </a:r>
            <a:endParaRPr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313525" y="1467675"/>
            <a:ext cx="4365000" cy="32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unique identifier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utterance: one utterance / sentence spoken by a speaker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“LLM”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generation_strategy: LLM prompting strategy used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model_name: model variant used for generation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dialogue_text: the full dialogue text returned from the LLM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turn_index: unique identifier within a dialogue that represents the n-th turn of an utterance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speaker: the speaker in the dialogue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tokens: tokenized representation of each utterance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pos_tags: part-of-speech tags (via spaCy and jieba for English and Mandarin POS tagging)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Labels: a set of languages used in this dialogue 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rgbClr val="2735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Language: a list that shows what language every token is in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45" name="Google Shape;145;p15" title="Screenshot 2025-11-10 at 8.31.05 AM.png"/>
          <p:cNvPicPr preferRelativeResize="0"/>
          <p:nvPr/>
        </p:nvPicPr>
        <p:blipFill rotWithShape="1">
          <a:blip r:embed="rId3">
            <a:alphaModFix/>
          </a:blip>
          <a:srcRect b="0" l="0" r="26465" t="0"/>
          <a:stretch/>
        </p:blipFill>
        <p:spPr>
          <a:xfrm>
            <a:off x="4572000" y="1663600"/>
            <a:ext cx="4234348" cy="20946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819150" y="1570800"/>
            <a:ext cx="75057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273540"/>
                </a:solidFill>
              </a:rPr>
              <a:t>Clean the input</a:t>
            </a:r>
            <a:endParaRPr sz="1100"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Remove extra spaces and trim the text.</a:t>
            </a:r>
            <a:endParaRPr>
              <a:solidFill>
                <a:srgbClr val="27354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273540"/>
                </a:solidFill>
              </a:rPr>
              <a:t>Check for Chinese characters (CJK)</a:t>
            </a:r>
            <a:endParaRPr sz="1100"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Use a regular expression (Regex) to see if the text contains any Chinese characters.</a:t>
            </a:r>
            <a:endParaRPr>
              <a:solidFill>
                <a:srgbClr val="27354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273540"/>
                </a:solidFill>
              </a:rPr>
              <a:t>If the text contains both English and Chinese:</a:t>
            </a:r>
            <a:endParaRPr sz="1100"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Add spaces around English words and numbers to separate them from Chinese text.</a:t>
            </a:r>
            <a:endParaRPr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Split the text into parts (Chinese runs, English words, numbers, and punctuation) using Regex.</a:t>
            </a:r>
            <a:endParaRPr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Group consecutive English words together and process them with spaCy to get tokens, POS tags, lemmas, and dependencies.</a:t>
            </a:r>
            <a:endParaRPr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Use jieba.posseg to split Chinese text and get tokens with their POS tags.</a:t>
            </a:r>
            <a:endParaRPr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Treat numbers and punctuation as individual tokens with simple tags.</a:t>
            </a:r>
            <a:endParaRPr>
              <a:solidFill>
                <a:srgbClr val="27354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273540"/>
                </a:solidFill>
              </a:rPr>
              <a:t>If the text is pure English:</a:t>
            </a:r>
            <a:endParaRPr sz="1100"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Run spaCy on the entire sentence for tokenization and linguistic features.</a:t>
            </a:r>
            <a:endParaRPr>
              <a:solidFill>
                <a:srgbClr val="273540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Calibri"/>
              <a:buChar char="○"/>
            </a:pPr>
            <a:r>
              <a:rPr lang="en">
                <a:solidFill>
                  <a:srgbClr val="273540"/>
                </a:solidFill>
              </a:rPr>
              <a:t>For each token, create a dictionary that includes TurnID, Token text, Language, POS, etc</a:t>
            </a:r>
            <a:endParaRPr>
              <a:solidFill>
                <a:srgbClr val="27354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273540"/>
                </a:solidFill>
              </a:rPr>
              <a:t>Return a list of these token dictionaries</a:t>
            </a:r>
            <a:endParaRPr sz="1100">
              <a:solidFill>
                <a:srgbClr val="273540"/>
              </a:solidFill>
            </a:endParaRPr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 Extraction and Tokenization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Composition in Utterances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 b="15812" l="11700" r="16825" t="6787"/>
          <a:stretch/>
        </p:blipFill>
        <p:spPr>
          <a:xfrm>
            <a:off x="671800" y="1610000"/>
            <a:ext cx="244792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3318575" y="1528525"/>
            <a:ext cx="53352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"/>
              <a:t>English-only utterances dominate at 45.2%, followed by mixed utterances at 28.7%, and Chinese-only at 26.1%, providing diverse training data for code-switch modeling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"/>
              <a:t>This falls within the desired 20-30% range and aligns with real-world bilingual code-switching patterns observed in datasets like ASCEND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"/>
              <a:t>Nearly one-third of utterances contain language mixing, providing around 1,750 examples of switches for training predictive models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●"/>
            </a:pPr>
            <a:r>
              <a:rPr lang="en"/>
              <a:t>The composition mirrors natural English-Mandarin technical conversations where English dominates but code-switching frequently occurs for technical terms and contextual nuance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Token-Level Language Proportion</a:t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11820" l="10896" r="10257" t="6773"/>
          <a:stretch/>
        </p:blipFill>
        <p:spPr>
          <a:xfrm>
            <a:off x="738775" y="1682625"/>
            <a:ext cx="24765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3527800" y="1633125"/>
            <a:ext cx="4797000" cy="29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English tokens comprise 59.6% while Chinese tokens </a:t>
            </a:r>
            <a:r>
              <a:rPr lang="en" sz="1200"/>
              <a:t>make up</a:t>
            </a:r>
            <a:r>
              <a:rPr lang="en" sz="1200"/>
              <a:t> 40.4% of the dataset, providing a well-balanced bilingual corpus with 125,048 total tokens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The 60-40 split aligns with English-Mandarin code-switching patterns in technical/professional settings where English often serves as the matrix language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With around 74,500 English tokens and 50,500 Chinese tokens, both languages have adequate samples for training robust multilingual models without too much class imbalance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The relatively even split ensures predictive models can learn meaningful patterns for switches in both directions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Utterance Length</a:t>
            </a:r>
            <a:endParaRPr/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25" y="1453625"/>
            <a:ext cx="4657725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173150" y="1493650"/>
            <a:ext cx="3498000" cy="3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Most utterances range between 15–30 tokens, representing typical conversational or task-focused exchanges.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Short utterances (under 10 tokens) are quick acknowledgments or brief replies (ex: “Sure,” “Okay”), while long utterances (over 30 tokens) correspond to detailed explanations or multi-sentence instructions.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The distribution shapes indicate that English utterances are generally longer, Chinese ones are more concise, and mixed utterances fall in between.</a:t>
            </a:r>
            <a:endParaRPr sz="1200"/>
          </a:p>
        </p:txBody>
      </p:sp>
      <p:sp>
        <p:nvSpPr>
          <p:cNvPr id="177" name="Google Shape;177;p19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Predicted Switch Positions</a:t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25" y="1771975"/>
            <a:ext cx="4371975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887775" y="1615700"/>
            <a:ext cx="3731100" cy="30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100"/>
              <a:t>Code-switches occur predominantly at token indices 5-15, with peak frequency around indices 6-8, indicating speakers typically switch languages early in utterances.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100"/>
              <a:t>Switch frequency drops significantly after the mid-utterance point, suggesting once speakers commit to a language beyond ~15 tokens, they maintain it for the rest of the utterance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100"/>
              <a:t>The long tail extending to indices 30-35 shows late switches are possible but uncommon, likely occurring only in complex multi-clause sentences or detailed explanations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100"/>
              <a:t>Token position should be a valuable predictive feature, as early tokens carry stronger contextual cues for switches while later positions may require deeper syntactic understanding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Predicted Switch Probabilities</a:t>
            </a:r>
            <a:endParaRPr/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00" y="1800200"/>
            <a:ext cx="39052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4572000" y="2041425"/>
            <a:ext cx="41091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50% of predictions fall below 35% switch probability, with only the top 25% exceeding 70%, indicating the model is appropriately conservative about predicting switches.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●"/>
            </a:pPr>
            <a:r>
              <a:rPr lang="en" sz="1300"/>
              <a:t>The interquartile range spanning 5%-70% captures the difficulty in code-switch prediction, explaining why the model achieves high recall (~78%) but moderate precision (~65%)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</a:t>
            </a:r>
            <a:r>
              <a:rPr lang="en"/>
              <a:t> of Code-switch Types</a:t>
            </a:r>
            <a:endParaRPr/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50" y="1593250"/>
            <a:ext cx="4219575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4765725" y="1528525"/>
            <a:ext cx="3975300" cy="31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1,750 intra-sentential switches (within utterances) significantly outnumber 350 inter-sentential switches (between utterances), reflecting natural code-switching patterns in technical </a:t>
            </a:r>
            <a:r>
              <a:rPr lang="en" sz="1200"/>
              <a:t>dialogue.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This aligns with bilingual speakers </a:t>
            </a:r>
            <a:r>
              <a:rPr lang="en" sz="1200"/>
              <a:t>switching</a:t>
            </a:r>
            <a:r>
              <a:rPr lang="en" sz="1200"/>
              <a:t> to English technical terms (like PR, bugs, commits, staging) after Chinese sentences, rather than alternating languages between complete utterances.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200"/>
              <a:t>With 4,000 "none" cases, the dataset maintains realistic class distribution where most tokens don't trigger language switches, which explains model behavior and the need for balanced precision-recall optimization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Results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4572000" y="1624075"/>
            <a:ext cx="4102500" cy="28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tends to favor recall over precision for the “switch” class, meaning it’s better at finding switches than being sure about them (we often “overpredict” on number of switches).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tradeoff can be acceptable if missing a switch is more costly than falsely labeling one.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No-Switch: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precision means that when the model predicts no switch, it’s usually right. However, recall is lower, meaning some “no switch” cases are misclassified as switches.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Switch: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recall but lower precision means that the model catches most switches but often overpredicts them, leading to false positives.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Improving strategies could include: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class weights or resampling to balance training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Incorporating contextual features (ex: previous utterances, speaker turns).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Trying sequence models like BiLSTM or Transformers to capture dependencies across tokens and improve discrimination.</a:t>
            </a:r>
            <a:endParaRPr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3" title="Screenshot 2025-11-09 at 9.59.00 PM.png"/>
          <p:cNvPicPr preferRelativeResize="0"/>
          <p:nvPr/>
        </p:nvPicPr>
        <p:blipFill rotWithShape="1">
          <a:blip r:embed="rId3">
            <a:alphaModFix/>
          </a:blip>
          <a:srcRect b="0" l="0" r="19478" t="0"/>
          <a:stretch/>
        </p:blipFill>
        <p:spPr>
          <a:xfrm>
            <a:off x="558700" y="1846525"/>
            <a:ext cx="3932825" cy="24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Results</a:t>
            </a:r>
            <a:endParaRPr/>
          </a:p>
        </p:txBody>
      </p:sp>
      <p:pic>
        <p:nvPicPr>
          <p:cNvPr id="215" name="Google Shape;215;p24" title="Screenshot 2025-11-09 at 10.01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25" y="1800200"/>
            <a:ext cx="3873701" cy="24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>
            <p:ph idx="1" type="body"/>
          </p:nvPr>
        </p:nvSpPr>
        <p:spPr>
          <a:xfrm>
            <a:off x="4572000" y="1704475"/>
            <a:ext cx="4102500" cy="27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10">
                <a:solidFill>
                  <a:srgbClr val="273540"/>
                </a:solidFill>
                <a:latin typeface="Arial"/>
                <a:ea typeface="Arial"/>
                <a:cs typeface="Arial"/>
                <a:sym typeface="Arial"/>
              </a:rPr>
              <a:t>The Random Forest outperforms Logistic Regression across all metrics, especially in F1-score and ROC-AUC</a:t>
            </a:r>
            <a:endParaRPr sz="1010">
              <a:solidFill>
                <a:srgbClr val="273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73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010"/>
              <a:buFont typeface="Arial"/>
              <a:buChar char="-"/>
            </a:pPr>
            <a:r>
              <a:rPr lang="en" sz="1010">
                <a:solidFill>
                  <a:srgbClr val="273540"/>
                </a:solidFill>
                <a:latin typeface="Arial"/>
                <a:ea typeface="Arial"/>
                <a:cs typeface="Arial"/>
                <a:sym typeface="Arial"/>
              </a:rPr>
              <a:t>The model has a strong ability to detect switches (high recall) while also becoming more precise, reducing false positives.</a:t>
            </a:r>
            <a:endParaRPr sz="1010">
              <a:solidFill>
                <a:srgbClr val="273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73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010"/>
              <a:buFont typeface="Arial"/>
              <a:buChar char="-"/>
            </a:pPr>
            <a:r>
              <a:rPr lang="en" sz="1010">
                <a:solidFill>
                  <a:srgbClr val="273540"/>
                </a:solidFill>
                <a:latin typeface="Arial"/>
                <a:ea typeface="Arial"/>
                <a:cs typeface="Arial"/>
                <a:sym typeface="Arial"/>
              </a:rPr>
              <a:t>This suggests that Random Forest is capturing nonlinear relationships and feature interactions better than the linear logistic model.</a:t>
            </a:r>
            <a:endParaRPr sz="1010">
              <a:solidFill>
                <a:srgbClr val="273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10">
              <a:solidFill>
                <a:srgbClr val="273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10">
                <a:solidFill>
                  <a:srgbClr val="273540"/>
                </a:solidFill>
                <a:latin typeface="Arial"/>
                <a:ea typeface="Arial"/>
                <a:cs typeface="Arial"/>
                <a:sym typeface="Arial"/>
              </a:rPr>
              <a:t>Very reliable at predicting “no switch”: high precision and solid recall. Some “no switch” utterances are still misclassified as switches, but overall performance is strong.</a:t>
            </a:r>
            <a:endParaRPr sz="1010">
              <a:solidFill>
                <a:srgbClr val="273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10">
              <a:solidFill>
                <a:srgbClr val="273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10">
                <a:solidFill>
                  <a:srgbClr val="273540"/>
                </a:solidFill>
                <a:latin typeface="Arial"/>
                <a:ea typeface="Arial"/>
                <a:cs typeface="Arial"/>
                <a:sym typeface="Arial"/>
              </a:rPr>
              <a:t>Improved compared to logistic regression for “switch” predictions”:  maintains high recall while increasing precision, meaning fewer false alarms for switch cases.</a:t>
            </a:r>
            <a:endParaRPr sz="1010">
              <a:solidFill>
                <a:srgbClr val="2735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223" name="Google Shape;223;p25"/>
          <p:cNvSpPr txBox="1"/>
          <p:nvPr>
            <p:ph idx="1" type="body"/>
          </p:nvPr>
        </p:nvSpPr>
        <p:spPr>
          <a:xfrm>
            <a:off x="819150" y="1597975"/>
            <a:ext cx="75057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our model wasn’t as successful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baseline model relied on static text representations like bag-of-words or TF-IDF, which failed to capture sequential dependencies between tokens.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also lacked contextual understanding of how English and Mandarin tokens interact within a sentence.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Model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Bidirectional LSTM (BiLSTM) and Transformer architectures can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 word order and temporal relationships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tokens (context and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train these models on sequence-labeled data, allowing them to recognize patterns that precede or follow code-switches, such as topic changes, function words, etc.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other features we can add are: contextual embedding, pre-trained word embeddings from Word2Vec/FastText, character level embedding, and maybe even speaker/dialogue turn id.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performance improvements and additional benefits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 in recall due to better temporal modeling.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F1-score improvement, which should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surpass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our current benchmark of 0.85.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interpretability, offering deeper insights into linguistic and contextual factors that influence code-switching behavior.</a:t>
            </a:r>
            <a:endParaRPr sz="1000"/>
          </a:p>
        </p:txBody>
      </p:sp>
      <p:sp>
        <p:nvSpPr>
          <p:cNvPr id="224" name="Google Shape;224;p25"/>
          <p:cNvSpPr txBox="1"/>
          <p:nvPr/>
        </p:nvSpPr>
        <p:spPr>
          <a:xfrm>
            <a:off x="282500" y="224075"/>
            <a:ext cx="40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