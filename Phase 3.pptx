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E8BC71-CD5B-4AE9-9D6A-6FC696FC88CE}">
  <a:tblStyle styleId="{1DE8BC71-CD5B-4AE9-9D6A-6FC696FC88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5AC32FA-0DBF-46DA-9F38-F37D0467081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526b863d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526b863d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526b863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526b863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e526b863d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e526b863d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526b863d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526b863d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526b863d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526b863d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526b863d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e526b863d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526b863d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e526b863d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526b863d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e526b863d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526b863d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e526b863d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526b863d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e526b863d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e526b863d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e526b863d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526b863d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e526b863d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526b863d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e526b863d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Switcher Final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Keith Yao and Arav Goyal (Group 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Problem Definition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Context:</a:t>
            </a:r>
            <a:r>
              <a:rPr lang="en"/>
              <a:t>  </a:t>
            </a:r>
            <a:r>
              <a:rPr lang="en"/>
              <a:t>Multilingual</a:t>
            </a:r>
            <a:r>
              <a:rPr lang="en"/>
              <a:t> speakers alternate between </a:t>
            </a:r>
            <a:r>
              <a:rPr lang="en"/>
              <a:t>languages</a:t>
            </a:r>
            <a:r>
              <a:rPr lang="en"/>
              <a:t> within a single conversation due to </a:t>
            </a:r>
            <a:r>
              <a:rPr lang="en"/>
              <a:t>convenience</a:t>
            </a:r>
            <a:r>
              <a:rPr lang="en"/>
              <a:t> or better expression. However, most models assume monolingual inputs, making dialogue systems, speech recognition, and language understanding features difficult.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Project Goal: </a:t>
            </a:r>
            <a:r>
              <a:rPr lang="en"/>
              <a:t>Our goal was to detect switch boundaries in English-Mandarin dialogue. We want to perform a binary </a:t>
            </a:r>
            <a:r>
              <a:rPr lang="en"/>
              <a:t>classification</a:t>
            </a:r>
            <a:r>
              <a:rPr lang="en"/>
              <a:t> at each token boundary. Given tokens t</a:t>
            </a:r>
            <a:r>
              <a:rPr baseline="-25000" lang="en"/>
              <a:t>1</a:t>
            </a:r>
            <a:r>
              <a:rPr lang="en"/>
              <a:t>,t</a:t>
            </a:r>
            <a:r>
              <a:rPr baseline="-25000" lang="en"/>
              <a:t>2</a:t>
            </a:r>
            <a:r>
              <a:rPr lang="en"/>
              <a:t>,...t</a:t>
            </a:r>
            <a:r>
              <a:rPr baseline="-25000" lang="en"/>
              <a:t>n</a:t>
            </a:r>
            <a:r>
              <a:rPr lang="en"/>
              <a:t>, we want to predict if a switch occurs between t</a:t>
            </a:r>
            <a:r>
              <a:rPr baseline="-25000" lang="en"/>
              <a:t>n</a:t>
            </a:r>
            <a:r>
              <a:rPr lang="en"/>
              <a:t> and t</a:t>
            </a:r>
            <a:r>
              <a:rPr baseline="-25000" lang="en"/>
              <a:t>n+1</a:t>
            </a:r>
            <a:r>
              <a:rPr lang="en"/>
              <a:t>. The expected output is a switch probability and a </a:t>
            </a:r>
            <a:r>
              <a:rPr lang="en"/>
              <a:t>confidence</a:t>
            </a:r>
            <a:r>
              <a:rPr lang="en"/>
              <a:t> score in that position.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Hypothesis:</a:t>
            </a:r>
            <a:r>
              <a:rPr lang="en"/>
              <a:t> We implemented two </a:t>
            </a:r>
            <a:r>
              <a:rPr lang="en"/>
              <a:t>phases</a:t>
            </a:r>
            <a:r>
              <a:rPr lang="en"/>
              <a:t> of modelling: bag-of-words approaches and sequential/contextual neural models. Our hypothesis is that sequential models outperform simple bag-of-words approaches in predicting switches. Our baseline (bag-of-words) models included Random Forest and Logistic Regression models. We compared these to BiLSTM (bidirectional long short term memory) model.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Generation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We kept our prompting the same as before, using 2 prompting techniques (out of few shot, persona, and chain of thought) in each </a:t>
            </a:r>
            <a:r>
              <a:rPr lang="en"/>
              <a:t>dialogue</a:t>
            </a:r>
            <a:r>
              <a:rPr lang="en"/>
              <a:t> generation. One addition we added was using Claude to </a:t>
            </a:r>
            <a:r>
              <a:rPr lang="en"/>
              <a:t>specifically</a:t>
            </a:r>
            <a:r>
              <a:rPr lang="en"/>
              <a:t> generate certain personas, giving more diverse conversations. </a:t>
            </a:r>
            <a:endParaRPr/>
          </a:p>
        </p:txBody>
      </p:sp>
      <p:pic>
        <p:nvPicPr>
          <p:cNvPr id="148" name="Google Shape;148;p15" title="Screenshot 2025-12-07 at 3.03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00" y="2880501"/>
            <a:ext cx="7852800" cy="11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Generation - Data Profile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Number of Dialogues: 798</a:t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/>
              <a:t>Total utterances: 6,083</a:t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/>
              <a:t>Total tokens: 125,048</a:t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/>
              <a:t>Distinct tokens: 3,143</a:t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200"/>
              <a:t>Mixed Utterance Rate: 28.69%</a:t>
            </a:r>
            <a:endParaRPr sz="1200"/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 b="15812" l="11700" r="16825" t="6787"/>
          <a:stretch/>
        </p:blipFill>
        <p:spPr>
          <a:xfrm>
            <a:off x="3093275" y="2995050"/>
            <a:ext cx="1856975" cy="20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 rotWithShape="1">
          <a:blip r:embed="rId4">
            <a:alphaModFix/>
          </a:blip>
          <a:srcRect b="11820" l="10896" r="10257" t="6773"/>
          <a:stretch/>
        </p:blipFill>
        <p:spPr>
          <a:xfrm>
            <a:off x="982952" y="2995050"/>
            <a:ext cx="1948773" cy="20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0125" y="2726800"/>
            <a:ext cx="3692252" cy="230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Generation - Quality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4350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Example: </a:t>
            </a:r>
            <a:endParaRPr b="1"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Li: "Sarah, 我们需要在明天之前 deploy the latest changes to production."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Sarah: "好的，我会先 build 一下代码，然后进行 QA 测试。”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Li: "Great. 如果有 bug 我们可以先做一个 temporary workaround，然后再继续 fix.”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Sarah: "明白，我会先进行 deploy，然后通知你测试结果。”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Li: "Sounds like a plan. 我们一定要在 deadline 前解决所有问题。”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Sarah: “是的，我们会尽最大努力确保代码 merge 后没有任何问题出现。”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Li: “谢谢你的配合，我们一起加油吧！”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100"/>
              <a:t>Sarah: “当然，团队合作一定会让我们顺利完成任务的。”</a:t>
            </a:r>
            <a:endParaRPr sz="1100"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5801775" y="1567550"/>
            <a:ext cx="3012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Why It’s Good:</a:t>
            </a:r>
            <a:endParaRPr b="1"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1. Natural, conversational workplace context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2. Frequent, meaningful alternations between Mandarin and English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3. Multiple switch types appear (intra/inter-sentential </a:t>
            </a:r>
            <a:r>
              <a:rPr lang="en" sz="1100"/>
              <a:t>switches, embedded terms)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4. Balanced contributions from both speakers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100"/>
              <a:t>5. Realistic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Model Generation</a:t>
            </a:r>
            <a:endParaRPr sz="1950"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0" name="Google Shape;170;p18"/>
          <p:cNvGraphicFramePr/>
          <p:nvPr/>
        </p:nvGraphicFramePr>
        <p:xfrm>
          <a:off x="416363" y="182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{1DE8BC71-CD5B-4AE9-9D6A-6FC696FC88CE}</a:tableStyleId>
              </a:tblPr>
              <a:tblGrid>
                <a:gridCol w="1979125"/>
                <a:gridCol w="1979125"/>
              </a:tblGrid>
              <a:tr h="5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Score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0.711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Precision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0.583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Recall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ROC-AUC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0.795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F1-score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8"/>
          <p:cNvSpPr txBox="1"/>
          <p:nvPr/>
        </p:nvSpPr>
        <p:spPr>
          <a:xfrm>
            <a:off x="416363" y="1373013"/>
            <a:ext cx="161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416375" y="4459100"/>
            <a:ext cx="412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Limitations</a:t>
            </a:r>
            <a:r>
              <a:rPr lang="en" sz="1100">
                <a:solidFill>
                  <a:schemeClr val="lt1"/>
                </a:solidFill>
              </a:rPr>
              <a:t>: Ignores token order → cannot distinguish "EN→ZH" from "ZH→EN" at same boundary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73" name="Google Shape;173;p18"/>
          <p:cNvGraphicFramePr/>
          <p:nvPr/>
        </p:nvGraphicFramePr>
        <p:xfrm>
          <a:off x="4930388" y="182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{1DE8BC71-CD5B-4AE9-9D6A-6FC696FC88CE}</a:tableStyleId>
              </a:tblPr>
              <a:tblGrid>
                <a:gridCol w="1898625"/>
                <a:gridCol w="1898625"/>
              </a:tblGrid>
              <a:tr h="5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Score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0.763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Precision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0.649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Recall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0.788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ROC-AUC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0.831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F1-score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0.708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8"/>
          <p:cNvSpPr txBox="1"/>
          <p:nvPr/>
        </p:nvSpPr>
        <p:spPr>
          <a:xfrm>
            <a:off x="4930388" y="1373013"/>
            <a:ext cx="161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905875" y="4374350"/>
            <a:ext cx="3958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Strength</a:t>
            </a:r>
            <a:r>
              <a:rPr lang="en" sz="1100">
                <a:solidFill>
                  <a:schemeClr val="lt1"/>
                </a:solidFill>
              </a:rPr>
              <a:t>: Learns feature interactions better than LogReg (+3.6% AUC)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Limitation</a:t>
            </a:r>
            <a:r>
              <a:rPr lang="en" sz="1100">
                <a:solidFill>
                  <a:schemeClr val="lt1"/>
                </a:solidFill>
              </a:rPr>
              <a:t>: Still bag-of-words; no sequential memory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Model Generation - Final Architecture</a:t>
            </a:r>
            <a:endParaRPr sz="1950"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/>
              <a:t>Why We Chose Bidirectional LSTM: Code-switching is inherently sequential</a:t>
            </a:r>
            <a:endParaRPr sz="1200"/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Past tokens inform switch probability (context window)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Future tokens validate language identity (lookahead context)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Bidirectionality solves this: LSTM reads left→right AND right←left simultaneously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Captures long-range dependencies better than feed-forward models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Model Generation - Training Details</a:t>
            </a:r>
            <a:endParaRPr/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243588" y="121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{25AC32FA-0DBF-46DA-9F38-F37D04670813}</a:tableStyleId>
              </a:tblPr>
              <a:tblGrid>
                <a:gridCol w="1744125"/>
                <a:gridCol w="788825"/>
                <a:gridCol w="3188050"/>
              </a:tblGrid>
              <a:tr h="415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Parameter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Value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Rationale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Embedding Dimension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128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Balancing expressiveness vs. resource usage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Hidden Dimension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256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Sufficient capacity for 118K examples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LSTM Layers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Depth for hierarchical feature learning without taking too long.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Batch Size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256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Trade-off: fast convergence, stable gradients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Learning Rate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1e-3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118,965 examples is large enough to support aggressive learning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3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Dropout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0.3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Prevents overfitting on data by setting a fraction of neurons to zero during each training step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Epochs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Early stopping if val AUC plateaus for 5 epochs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5964600" y="2947625"/>
            <a:ext cx="30000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Training Duration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Data</a:t>
            </a:r>
            <a:r>
              <a:rPr lang="en" sz="1100">
                <a:solidFill>
                  <a:schemeClr val="lt1"/>
                </a:solidFill>
              </a:rPr>
              <a:t>: 118,965 examples → 95,172 train / 23,793 test (80/20 split)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Time</a:t>
            </a:r>
            <a:r>
              <a:rPr lang="en" sz="1100">
                <a:solidFill>
                  <a:schemeClr val="lt1"/>
                </a:solidFill>
              </a:rPr>
              <a:t>: ~2 minute per epoch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Total</a:t>
            </a:r>
            <a:r>
              <a:rPr lang="en" sz="1100">
                <a:solidFill>
                  <a:schemeClr val="lt1"/>
                </a:solidFill>
              </a:rPr>
              <a:t>: 20 minutes for ~10 epochs with our early stopping 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Evaluation - Core Metrics</a:t>
            </a:r>
            <a:endParaRPr/>
          </a:p>
        </p:txBody>
      </p:sp>
      <p:graphicFrame>
        <p:nvGraphicFramePr>
          <p:cNvPr id="194" name="Google Shape;194;p21"/>
          <p:cNvGraphicFramePr/>
          <p:nvPr/>
        </p:nvGraphicFramePr>
        <p:xfrm>
          <a:off x="212850" y="136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{1DE8BC71-CD5B-4AE9-9D6A-6FC696FC88CE}</a:tableStyleId>
              </a:tblPr>
              <a:tblGrid>
                <a:gridCol w="1453050"/>
                <a:gridCol w="1453050"/>
                <a:gridCol w="1453050"/>
                <a:gridCol w="1453050"/>
                <a:gridCol w="1453050"/>
                <a:gridCol w="14530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Recall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F1-Score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ROC-AUC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Log. Regression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0.711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0.583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0.766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0.662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0.795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0.763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0.649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0.778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0.708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0.831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BiLSTM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0.834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0.748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0.828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0.786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0.915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Improvement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+12.3%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+16.5%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+6.2%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+12.4%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+12.0%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/>
        </p:nvSpPr>
        <p:spPr>
          <a:xfrm>
            <a:off x="275950" y="3314525"/>
            <a:ext cx="4809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b="1" lang="en" sz="1100">
                <a:solidFill>
                  <a:schemeClr val="lt1"/>
                </a:solidFill>
              </a:rPr>
              <a:t>H</a:t>
            </a:r>
            <a:r>
              <a:rPr b="1" lang="en" sz="1100">
                <a:solidFill>
                  <a:schemeClr val="lt1"/>
                </a:solidFill>
              </a:rPr>
              <a:t>igher precision</a:t>
            </a:r>
            <a:r>
              <a:rPr lang="en" sz="1100">
                <a:solidFill>
                  <a:schemeClr val="lt1"/>
                </a:solidFill>
              </a:rPr>
              <a:t> on code-switches (0.748 vs 0.649)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Fewer false positives: fewer switches incorrectly predicted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b="1" lang="en" sz="1100">
                <a:solidFill>
                  <a:schemeClr val="lt1"/>
                </a:solidFill>
              </a:rPr>
              <a:t>Higher recall</a:t>
            </a:r>
            <a:r>
              <a:rPr lang="en" sz="1100">
                <a:solidFill>
                  <a:schemeClr val="lt1"/>
                </a:solidFill>
              </a:rPr>
              <a:t> on code-switches (0.828 vs 0.778)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Better at catching actual switches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b="1" lang="en" sz="1100">
                <a:solidFill>
                  <a:schemeClr val="lt1"/>
                </a:solidFill>
              </a:rPr>
              <a:t>H</a:t>
            </a:r>
            <a:r>
              <a:rPr b="1" lang="en" sz="1100">
                <a:solidFill>
                  <a:schemeClr val="lt1"/>
                </a:solidFill>
              </a:rPr>
              <a:t>igher ROC-AUC</a:t>
            </a:r>
            <a:r>
              <a:rPr b="1" lang="en" sz="1100">
                <a:solidFill>
                  <a:schemeClr val="lt1"/>
                </a:solidFill>
              </a:rPr>
              <a:t> </a:t>
            </a:r>
            <a:r>
              <a:rPr lang="en" sz="1100">
                <a:solidFill>
                  <a:schemeClr val="lt1"/>
                </a:solidFill>
              </a:rPr>
              <a:t>(0.915 vs 0.831)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Better predictability across both classes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/>
        </p:nvSpPr>
        <p:spPr>
          <a:xfrm>
            <a:off x="4572000" y="1168025"/>
            <a:ext cx="4400100" cy="3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False Positives (2,435): Predicts switch but it's no switch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Model sees diverse vocabulary in mono-lingual utterances → incorrectly predicts a language switch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16.2% of actual no-switch cases are incorrectly flagged as switches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False Negatives (1,504):</a:t>
            </a:r>
            <a:r>
              <a:rPr lang="en" sz="1100">
                <a:solidFill>
                  <a:schemeClr val="lt1"/>
                </a:solidFill>
              </a:rPr>
              <a:t> Predicts no switch but it’s switch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Model misses subtle, natural code-switches that blend languages smoothly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 sz="1100">
                <a:solidFill>
                  <a:schemeClr val="lt1"/>
                </a:solidFill>
              </a:rPr>
              <a:t>17.2% of actual switches are incorrectly predicted as no-switch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Specificity (no-switch detection) vs. Sensitivity (</a:t>
            </a:r>
            <a:r>
              <a:rPr lang="en" sz="1100">
                <a:solidFill>
                  <a:schemeClr val="lt1"/>
                </a:solidFill>
              </a:rPr>
              <a:t>switch</a:t>
            </a:r>
            <a:r>
              <a:rPr lang="en" sz="1100">
                <a:solidFill>
                  <a:schemeClr val="lt1"/>
                </a:solidFill>
              </a:rPr>
              <a:t> detection) are nearly identical, so the model doesn’t favor one class over the other.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Increase Decision Threshold: Higher Precision → catch fewer </a:t>
            </a:r>
            <a:r>
              <a:rPr lang="en" sz="1100">
                <a:solidFill>
                  <a:schemeClr val="lt1"/>
                </a:solidFill>
              </a:rPr>
              <a:t>switches, but more accurate</a:t>
            </a:r>
            <a:r>
              <a:rPr lang="en" sz="1100">
                <a:solidFill>
                  <a:schemeClr val="lt1"/>
                </a:solidFill>
              </a:rPr>
              <a:t> (few false alarms)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Lower Decision Threshold: Higher Recall → catch more switches, but more </a:t>
            </a:r>
            <a:r>
              <a:rPr lang="en" sz="1100">
                <a:solidFill>
                  <a:schemeClr val="lt1"/>
                </a:solidFill>
              </a:rPr>
              <a:t>false</a:t>
            </a:r>
            <a:r>
              <a:rPr lang="en" sz="1100">
                <a:solidFill>
                  <a:schemeClr val="lt1"/>
                </a:solidFill>
              </a:rPr>
              <a:t> alarms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01" name="Google Shape;20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Evaluation - Error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4258647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Evaluation - Training Insights</a:t>
            </a:r>
            <a:endParaRPr/>
          </a:p>
        </p:txBody>
      </p:sp>
      <p:pic>
        <p:nvPicPr>
          <p:cNvPr id="208" name="Google Shape;208;p23" title="Screenshot 2025-12-07 at 4.21.49 PM.png"/>
          <p:cNvPicPr preferRelativeResize="0"/>
          <p:nvPr/>
        </p:nvPicPr>
        <p:blipFill rotWithShape="1">
          <a:blip r:embed="rId3">
            <a:alphaModFix/>
          </a:blip>
          <a:srcRect b="59382" l="0" r="0" t="0"/>
          <a:stretch/>
        </p:blipFill>
        <p:spPr>
          <a:xfrm>
            <a:off x="264825" y="2082050"/>
            <a:ext cx="3440450" cy="13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3835575" y="1056075"/>
            <a:ext cx="51051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Epochs 1-5 - Good Convergence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Loss drops sharply from 0.691 → 0.382 (45% reduction)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Training accuracy climbs from 70.5% → 85.5%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Validation AUC increases from 87.3% → 92.0%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Epochs 6-10 - Overfitting Risk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Training accuracy continues rising (85.5% → 92.0%)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Validation AUC plateaus then declines (92.0% → 91.5%)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Loss keeps falling (overfitting to training data)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Early stopping worked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Saved model weights from Epoch 5 (best val AUC = 0.9202)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Final test AUC = 0.915 (only 0.5% lower than peak)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Analysis &amp; Conclusion - Bias</a:t>
            </a:r>
            <a:endParaRPr/>
          </a:p>
        </p:txBody>
      </p:sp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Detected Bias: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English Authority Skew: Technical terms default to English (~42% English tokens in tech-heavy turns vs. 37% overall)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Reflects real-world bias (English dominance in tech) but risks overfitting to professional contexts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Tech &amp; Academic Overrepresentation: 68% of generated dialogues featured professional/technical vocabulary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Example: "project timeline," "database query," "algorithm"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Underrepresents casual, informal, or colloquial code-switching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Analysis &amp; Conclusion - Mitigation Strategy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Prompt Refinement: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“Generate code-switched dialogue these domains: tech/professional, casual/social, and family/emotional.  For each domain, vary speaker authority by alternating between peer-to-peer and expert-to-novice </a:t>
            </a:r>
            <a:r>
              <a:rPr lang="en"/>
              <a:t>dialogue</a:t>
            </a:r>
            <a:r>
              <a:rPr lang="en"/>
              <a:t>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Data Filtering: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Manual Review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Vocabulary Check: Flag dialogues with &gt;80% single-language tokens (likely mono-lingual bias)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</a:t>
            </a:r>
            <a:r>
              <a:rPr lang="en"/>
              <a:t>Analysis &amp; Conclusion - Reflection</a:t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Limitations: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Generalization: Model trained on synthetic dialogue → uncertain on real conversational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Contextual semantics: BiLSTM treats tokens as sequences but ignores pragmatic reasons why speakers switch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Dialect variation: Data assumes Standard Mandarin + Standard English (gaps for regional variants)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Concrete Next Step: </a:t>
            </a:r>
            <a:r>
              <a:rPr lang="en"/>
              <a:t>Multilingual Embeddings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Replace random token embeddings with pre-trained multilingual BERT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mBERT learns cross-lingual semantic relationships (catches language similarity)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Embeddings capture that "你好" and "hello" are semantically equivalent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